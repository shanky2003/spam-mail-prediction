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Test-set scores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B1D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Naive Bayes</c:v>
                  </c:pt>
                  <c:pt idx="1">
                    <c:v>Random Forest</c:v>
                  </c:pt>
                  <c:pt idx="2">
                    <c:v>Logistic Regression</c:v>
                  </c:pt>
                  <c:pt idx="3">
                    <c:v>Linear SVM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98.74</c:v>
                </c:pt>
                <c:pt idx="1">
                  <c:v>98.55</c:v>
                </c:pt>
                <c:pt idx="2">
                  <c:v>98.36</c:v>
                </c:pt>
                <c:pt idx="3">
                  <c:v>98.36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Naive Bayes</c:v>
                  </c:pt>
                  <c:pt idx="1">
                    <c:v>Random Forest</c:v>
                  </c:pt>
                  <c:pt idx="2">
                    <c:v>Logistic Regression</c:v>
                  </c:pt>
                  <c:pt idx="3">
                    <c:v>Linear SVM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98.36</c:v>
                </c:pt>
                <c:pt idx="1">
                  <c:v>100</c:v>
                </c:pt>
                <c:pt idx="2">
                  <c:v>95.24</c:v>
                </c:pt>
                <c:pt idx="3">
                  <c:v>96.72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Naive Bayes</c:v>
                  </c:pt>
                  <c:pt idx="1">
                    <c:v>Random Forest</c:v>
                  </c:pt>
                  <c:pt idx="2">
                    <c:v>Logistic Regression</c:v>
                  </c:pt>
                  <c:pt idx="3">
                    <c:v>Linear SVM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91.6</c:v>
                </c:pt>
                <c:pt idx="1">
                  <c:v>88.55</c:v>
                </c:pt>
                <c:pt idx="2">
                  <c:v>91.6</c:v>
                </c:pt>
                <c:pt idx="3">
                  <c:v>90.08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Naive Bayes</c:v>
                  </c:pt>
                  <c:pt idx="1">
                    <c:v>Random Forest</c:v>
                  </c:pt>
                  <c:pt idx="2">
                    <c:v>Logistic Regression</c:v>
                  </c:pt>
                  <c:pt idx="3">
                    <c:v>Linear SVM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94.86</c:v>
                </c:pt>
                <c:pt idx="1">
                  <c:v>93.93</c:v>
                </c:pt>
                <c:pt idx="2">
                  <c:v>93.39</c:v>
                </c:pt>
                <c:pt idx="3">
                  <c:v>93.28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5-fold cross-validation (mean 98.59%)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98.26</c:v>
                </c:pt>
                <c:pt idx="1">
                  <c:v>98.65</c:v>
                </c:pt>
                <c:pt idx="2">
                  <c:v>98.65</c:v>
                </c:pt>
                <c:pt idx="3">
                  <c:v>98.74</c:v>
                </c:pt>
                <c:pt idx="4">
                  <c:v>98.64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company and the guide. This is my second internship project after Customer Churn Prediction. The goal: a model that decides whether an SMS is spam or ham.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spam is a problem: wastes time, costs money, and phishing is a security risk. Rules get outdated, so we let the machine learn the patterns from labelled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briefly. Mention that we compare 4 models and also analyse the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5,572 raw messages, 403 duplicates removed so the same message cannot appear in both train and test. Only about 13% are spam, so accuracy alone is misleading - that is why we use precision, recall and F1.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left to right. Stress that the same cleaning and TF-IDF steps are reused for new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before/after example. Explain TF-IDF: a word gets a high weight if it is frequent in the message but rare across all messages, like 'prize'. Bigrams capture phrases like 'free entry'.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model is a scikit-learn Pipeline: TF-IDF then classifier. Using a pipeline prevents data leakage because TF-IDF is fitted only on training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models are close because TF-IDF separates the classes well. Random Forest has perfect precision but the lowest recall. Naive Bayes has the best F1 and accuracy, and is fastest, so it is selected.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2 genuine messages were blocked out of 903. 11 spam messages were missed out of 131. False positives matter most in a spam filter, because a genuine bank alert might be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Five-fold cross-validation shows the score does not depend on one lucky split. The top spam words match real scams: prizes, claims, guaranteed offers, premium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messages are not in the dataset. The model labels the two scams as SPAM and the two normal messages as HAM.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Naive Bayes + TF-IDF reached about 98.7% accuracy. Data preparation mattered more than the algorithm. Always look at precision and recall for imbalanced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errors are spam written like friendly chat. Context-aware models such as BERT, plus hand-made features, can help. Hindi/Hinglish spam is common in India, so multilingual data is a natural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Spam Mail Prediction  |  Shashank Deshmukh  |  Naviotech Solutions Pvt Ltd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SPAM MAIL PREDICTION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Machine Learning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BD5E1"/>
                </a:solidFill>
              </a:rPr>
              <a:t>Shashank Deshmukh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BD5E1"/>
                </a:solidFill>
              </a:rPr>
              <a:t>AI &amp; ML Internship  |  Naviotech Solutions Pvt Ltd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BD5E1"/>
                </a:solidFill>
              </a:rPr>
              <a:t>Guide: Mr. Md. Ameen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BD5E1"/>
                </a:solidFill>
              </a:rPr>
              <a:t>Bharati Vidyapeeth (Deemed to be University)</a:t>
            </a:r>
            <a:endParaRPr lang="en-US" sz="1600" dirty="0"/>
          </a:p>
        </p:txBody>
      </p:sp>
      <p:sp>
        <p:nvSpPr>
          <p:cNvPr id="5" name="spam badge"/>
          <p:cNvSpPr/>
          <p:nvPr/>
        </p:nvSpPr>
        <p:spPr>
          <a:xfrm>
            <a:off x="7863840" y="320040"/>
            <a:ext cx="731520" cy="7315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0" y="320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Given a text message, automatically decide whether it is SPAM or HAM (legitimate).</a:t>
            </a:r>
            <a:endParaRPr lang="en-US" sz="2000" dirty="0"/>
          </a:p>
        </p:txBody>
      </p:sp>
      <p:sp>
        <p:nvSpPr>
          <p:cNvPr id="5" name="problem card Wastes time"/>
          <p:cNvSpPr/>
          <p:nvPr/>
        </p:nvSpPr>
        <p:spPr>
          <a:xfrm>
            <a:off x="457200" y="19659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marker Wastes time"/>
          <p:cNvSpPr/>
          <p:nvPr/>
        </p:nvSpPr>
        <p:spPr>
          <a:xfrm>
            <a:off x="640080" y="2148840"/>
            <a:ext cx="411480" cy="41148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51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Wastes time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Users sort junk to find real messages</a:t>
            </a:r>
            <a:endParaRPr lang="en-US" sz="1200" dirty="0"/>
          </a:p>
        </p:txBody>
      </p:sp>
      <p:sp>
        <p:nvSpPr>
          <p:cNvPr id="10" name="problem card Costs money"/>
          <p:cNvSpPr/>
          <p:nvPr/>
        </p:nvSpPr>
        <p:spPr>
          <a:xfrm>
            <a:off x="3246120" y="19659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marker Costs money"/>
          <p:cNvSpPr/>
          <p:nvPr/>
        </p:nvSpPr>
        <p:spPr>
          <a:xfrm>
            <a:off x="3429000" y="2148840"/>
            <a:ext cx="411480" cy="4114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2900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2651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Costs money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Premium-rate numbers and extra network load</a:t>
            </a:r>
            <a:endParaRPr lang="en-US" sz="1200" dirty="0"/>
          </a:p>
        </p:txBody>
      </p:sp>
      <p:sp>
        <p:nvSpPr>
          <p:cNvPr id="15" name="problem card Security risk"/>
          <p:cNvSpPr/>
          <p:nvPr/>
        </p:nvSpPr>
        <p:spPr>
          <a:xfrm>
            <a:off x="6035040" y="196596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marker Security risk"/>
          <p:cNvSpPr/>
          <p:nvPr/>
        </p:nvSpPr>
        <p:spPr>
          <a:xfrm>
            <a:off x="6217920" y="2148840"/>
            <a:ext cx="411480" cy="41148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2651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risk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Phishing links and fake prize scams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Binary text classification: input = free-form message, output = spam (1) or ham (0).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objective 1"/>
          <p:cNvSpPr/>
          <p:nvPr/>
        </p:nvSpPr>
        <p:spPr>
          <a:xfrm>
            <a:off x="457200" y="118872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number 1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2801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Understand the dataset and the spam / ham imbalance</a:t>
            </a:r>
            <a:endParaRPr lang="en-US" sz="1400" dirty="0"/>
          </a:p>
        </p:txBody>
      </p:sp>
      <p:sp>
        <p:nvSpPr>
          <p:cNvPr id="8" name="objective 2"/>
          <p:cNvSpPr/>
          <p:nvPr/>
        </p:nvSpPr>
        <p:spPr>
          <a:xfrm>
            <a:off x="4663440" y="118872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number 2"/>
          <p:cNvSpPr/>
          <p:nvPr/>
        </p:nvSpPr>
        <p:spPr>
          <a:xfrm>
            <a:off x="4800600" y="141732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06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12801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Clean and pre-process the raw text</a:t>
            </a:r>
            <a:endParaRPr lang="en-US" sz="1400" dirty="0"/>
          </a:p>
        </p:txBody>
      </p:sp>
      <p:sp>
        <p:nvSpPr>
          <p:cNvPr id="12" name="objective 3"/>
          <p:cNvSpPr/>
          <p:nvPr/>
        </p:nvSpPr>
        <p:spPr>
          <a:xfrm>
            <a:off x="457200" y="228600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number 3"/>
          <p:cNvSpPr/>
          <p:nvPr/>
        </p:nvSpPr>
        <p:spPr>
          <a:xfrm>
            <a:off x="594360" y="2514600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23774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Convert text to numbers with TF-IDF</a:t>
            </a:r>
            <a:endParaRPr lang="en-US" sz="1400" dirty="0"/>
          </a:p>
        </p:txBody>
      </p:sp>
      <p:sp>
        <p:nvSpPr>
          <p:cNvPr id="16" name="objective 4"/>
          <p:cNvSpPr/>
          <p:nvPr/>
        </p:nvSpPr>
        <p:spPr>
          <a:xfrm>
            <a:off x="4663440" y="228600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number 4"/>
          <p:cNvSpPr/>
          <p:nvPr/>
        </p:nvSpPr>
        <p:spPr>
          <a:xfrm>
            <a:off x="4800600" y="251460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006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394960" y="23774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Train and compare 4 classifiers</a:t>
            </a:r>
            <a:endParaRPr lang="en-US" sz="1400" dirty="0"/>
          </a:p>
        </p:txBody>
      </p:sp>
      <p:sp>
        <p:nvSpPr>
          <p:cNvPr id="20" name="objective 5"/>
          <p:cNvSpPr/>
          <p:nvPr/>
        </p:nvSpPr>
        <p:spPr>
          <a:xfrm>
            <a:off x="457200" y="338328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number 5"/>
          <p:cNvSpPr/>
          <p:nvPr/>
        </p:nvSpPr>
        <p:spPr>
          <a:xfrm>
            <a:off x="594360" y="3611880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474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Evaluate with accuracy, precision, recall, F1, ROC-AUC</a:t>
            </a:r>
            <a:endParaRPr lang="en-US" sz="1400" dirty="0"/>
          </a:p>
        </p:txBody>
      </p:sp>
      <p:sp>
        <p:nvSpPr>
          <p:cNvPr id="24" name="objective 6"/>
          <p:cNvSpPr/>
          <p:nvPr/>
        </p:nvSpPr>
        <p:spPr>
          <a:xfrm>
            <a:off x="4663440" y="338328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number 6"/>
          <p:cNvSpPr/>
          <p:nvPr/>
        </p:nvSpPr>
        <p:spPr>
          <a:xfrm>
            <a:off x="4800600" y="361188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006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394960" y="3474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Analyse errors; save the model and predict new messages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SMS Spam Collection</a:t>
            </a:r>
            <a:endParaRPr lang="en-US" sz="2800" dirty="0"/>
          </a:p>
        </p:txBody>
      </p:sp>
      <p:sp>
        <p:nvSpPr>
          <p:cNvPr id="4" name="card unique messages"/>
          <p:cNvSpPr/>
          <p:nvPr/>
        </p:nvSpPr>
        <p:spPr>
          <a:xfrm>
            <a:off x="457200" y="1097280"/>
            <a:ext cx="1417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57200" y="120700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5,169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556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unique messages</a:t>
            </a:r>
            <a:endParaRPr lang="en-US" sz="1200" dirty="0"/>
          </a:p>
        </p:txBody>
      </p:sp>
      <p:sp>
        <p:nvSpPr>
          <p:cNvPr id="7" name="card ham (87.4%)"/>
          <p:cNvSpPr/>
          <p:nvPr/>
        </p:nvSpPr>
        <p:spPr>
          <a:xfrm>
            <a:off x="2011680" y="1097280"/>
            <a:ext cx="1417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011680" y="120700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4,516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2103120" y="17556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ham (87.4%)</a:t>
            </a:r>
            <a:endParaRPr lang="en-US" sz="1200" dirty="0"/>
          </a:p>
        </p:txBody>
      </p:sp>
      <p:sp>
        <p:nvSpPr>
          <p:cNvPr id="10" name="card spam (12.6%)"/>
          <p:cNvSpPr/>
          <p:nvPr/>
        </p:nvSpPr>
        <p:spPr>
          <a:xfrm>
            <a:off x="457200" y="2331720"/>
            <a:ext cx="1417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7200" y="244144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653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9900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spam (12.6%)</a:t>
            </a:r>
            <a:endParaRPr lang="en-US" sz="1200" dirty="0"/>
          </a:p>
        </p:txBody>
      </p:sp>
      <p:sp>
        <p:nvSpPr>
          <p:cNvPr id="13" name="card avg characters: ham vs spam"/>
          <p:cNvSpPr/>
          <p:nvPr/>
        </p:nvSpPr>
        <p:spPr>
          <a:xfrm>
            <a:off x="2011680" y="2331720"/>
            <a:ext cx="1417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011680" y="244144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 vs 138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29900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avg characters: ham vs spam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Source: UCI ML Repository. Two columns: label (ham/spam) and message (text). No missing values; 403 duplicates removed.</a:t>
            </a:r>
            <a:endParaRPr lang="en-US" sz="1200" dirty="0"/>
          </a:p>
        </p:txBody>
      </p:sp>
      <p:pic>
        <p:nvPicPr>
          <p:cNvPr id="17" name="Class distribution chart" descr="Class distribution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845425"/>
            <a:ext cx="4937760" cy="179554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4" name="step Load data"/>
          <p:cNvSpPr/>
          <p:nvPr/>
        </p:nvSpPr>
        <p:spPr>
          <a:xfrm>
            <a:off x="457200" y="1645920"/>
            <a:ext cx="1188720" cy="1554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Load data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25603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pandas, remove duplicates</a:t>
            </a:r>
            <a:endParaRPr lang="en-US" sz="1100" dirty="0"/>
          </a:p>
        </p:txBody>
      </p:sp>
      <p:sp>
        <p:nvSpPr>
          <p:cNvPr id="8" name="step Clean text"/>
          <p:cNvSpPr/>
          <p:nvPr/>
        </p:nvSpPr>
        <p:spPr>
          <a:xfrm>
            <a:off x="1828800" y="1645920"/>
            <a:ext cx="1188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2880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</a:rPr>
              <a:t>Clean text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901952" y="25603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lowercase, tokens, stop-words</a:t>
            </a:r>
            <a:endParaRPr lang="en-US" sz="1100" dirty="0"/>
          </a:p>
        </p:txBody>
      </p:sp>
      <p:sp>
        <p:nvSpPr>
          <p:cNvPr id="12" name="step TF-IDF"/>
          <p:cNvSpPr/>
          <p:nvPr/>
        </p:nvSpPr>
        <p:spPr>
          <a:xfrm>
            <a:off x="3200400" y="1645920"/>
            <a:ext cx="1188720" cy="1554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0040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TF-IDF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273552" y="25603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unigrams + bigrams</a:t>
            </a:r>
            <a:endParaRPr lang="en-US" sz="1100" dirty="0"/>
          </a:p>
        </p:txBody>
      </p:sp>
      <p:sp>
        <p:nvSpPr>
          <p:cNvPr id="16" name="step Split"/>
          <p:cNvSpPr/>
          <p:nvPr/>
        </p:nvSpPr>
        <p:spPr>
          <a:xfrm>
            <a:off x="4572000" y="1645920"/>
            <a:ext cx="1188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</a:rPr>
              <a:t>Split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645152" y="25603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80% train / 20% test</a:t>
            </a:r>
            <a:endParaRPr lang="en-US" sz="1100" dirty="0"/>
          </a:p>
        </p:txBody>
      </p:sp>
      <p:sp>
        <p:nvSpPr>
          <p:cNvPr id="20" name="step Train"/>
          <p:cNvSpPr/>
          <p:nvPr/>
        </p:nvSpPr>
        <p:spPr>
          <a:xfrm>
            <a:off x="5943600" y="1645920"/>
            <a:ext cx="1188720" cy="1554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016752" y="25603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4 classifiers</a:t>
            </a:r>
            <a:endParaRPr lang="en-US" sz="1100" dirty="0"/>
          </a:p>
        </p:txBody>
      </p:sp>
      <p:sp>
        <p:nvSpPr>
          <p:cNvPr id="24" name="step Evaluate"/>
          <p:cNvSpPr/>
          <p:nvPr/>
        </p:nvSpPr>
        <p:spPr>
          <a:xfrm>
            <a:off x="7315200" y="1645920"/>
            <a:ext cx="1188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</a:rPr>
              <a:t>Evaluate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388352" y="2560320"/>
            <a:ext cx="1042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6 metrics + CV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Tools: Python, pandas, scikit-learn, matplotlib, seaborn, Google Colab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Pre-processing and TF-IDF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</a:rPr>
              <a:t>BEFORE</a:t>
            </a:r>
            <a:endParaRPr lang="en-US" sz="1200" dirty="0"/>
          </a:p>
        </p:txBody>
      </p:sp>
      <p:sp>
        <p:nvSpPr>
          <p:cNvPr id="5" name="before box"/>
          <p:cNvSpPr/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258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Free entry in 2 a wkly comp to win FA Cup final tkts 21st May 2005. Text FA to 87121 to receive entry question(std txt rate)T&amp;C's apply 08452810075over18's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</a:rPr>
              <a:t>AFTER</a:t>
            </a:r>
            <a:endParaRPr lang="en-US" sz="1200" dirty="0"/>
          </a:p>
        </p:txBody>
      </p:sp>
      <p:sp>
        <p:nvSpPr>
          <p:cNvPr id="8" name="after box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423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free entry 2 wkly comp win fa cup final tkts 21st 2005 text fa longnumber receive entry questionstd txt ratetcs apply longnumber over18s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7"/>
                </a:solidFill>
              </a:rPr>
              <a:t>Cleaning: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lowercase, URL and long-number tokens, remove punctuation and stop-words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7"/>
                </a:solidFill>
              </a:rPr>
              <a:t>TF-IDF: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weight = term frequency x log(N / df); unigrams + bigrams, 5,476 features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7"/>
                </a:solidFill>
              </a:rPr>
              <a:t>No stemming: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spam spellings like 'wkly' and 'txt' are useful signals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</a:t>
            </a:r>
            <a:endParaRPr lang="en-US" sz="2800" dirty="0"/>
          </a:p>
        </p:txBody>
      </p:sp>
      <p:pic>
        <p:nvPicPr>
          <p:cNvPr id="4" name="System architecture diagram" descr="System archite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350" y="1005840"/>
            <a:ext cx="6845300" cy="2240280"/>
          </a:xfrm>
          <a:prstGeom prst="rect">
            <a:avLst/>
          </a:prstGeom>
        </p:spPr>
      </p:pic>
      <p:sp>
        <p:nvSpPr>
          <p:cNvPr id="5" name="model Naive Bayes"/>
          <p:cNvSpPr/>
          <p:nvPr/>
        </p:nvSpPr>
        <p:spPr>
          <a:xfrm>
            <a:off x="457200" y="3429000"/>
            <a:ext cx="1920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" y="3493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</a:rPr>
              <a:t>Naive Bayes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8587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word probabilities, alpha = 0.1</a:t>
            </a:r>
            <a:endParaRPr lang="en-US" sz="1200" dirty="0"/>
          </a:p>
        </p:txBody>
      </p:sp>
      <p:sp>
        <p:nvSpPr>
          <p:cNvPr id="8" name="model Logistic Regression"/>
          <p:cNvSpPr/>
          <p:nvPr/>
        </p:nvSpPr>
        <p:spPr>
          <a:xfrm>
            <a:off x="2542032" y="3429000"/>
            <a:ext cx="1920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633472" y="3493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633472" y="38587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linear + sigmoid, C = 10</a:t>
            </a:r>
            <a:endParaRPr lang="en-US" sz="1200" dirty="0"/>
          </a:p>
        </p:txBody>
      </p:sp>
      <p:sp>
        <p:nvSpPr>
          <p:cNvPr id="11" name="model Linear SVM"/>
          <p:cNvSpPr/>
          <p:nvPr/>
        </p:nvSpPr>
        <p:spPr>
          <a:xfrm>
            <a:off x="4626864" y="3429000"/>
            <a:ext cx="1920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2B13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18304" y="3493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</a:rPr>
              <a:t>Linear SVM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718304" y="38587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max-margin boundary, C = 1</a:t>
            </a:r>
            <a:endParaRPr lang="en-US" sz="1200" dirty="0"/>
          </a:p>
        </p:txBody>
      </p:sp>
      <p:sp>
        <p:nvSpPr>
          <p:cNvPr id="14" name="model Random Forest"/>
          <p:cNvSpPr/>
          <p:nvPr/>
        </p:nvSpPr>
        <p:spPr>
          <a:xfrm>
            <a:off x="6711696" y="3429000"/>
            <a:ext cx="1920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E5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03136" y="3493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803136" y="38587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200 voting trees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Model Comparison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winner card"/>
          <p:cNvSpPr/>
          <p:nvPr/>
        </p:nvSpPr>
        <p:spPr>
          <a:xfrm>
            <a:off x="6309360" y="1097280"/>
            <a:ext cx="2423160" cy="3291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0" y="1188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</a:rPr>
              <a:t>BEST MODEL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1463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Bayes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6400800" y="205740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5E7EB"/>
                </a:solidFill>
              </a:rPr>
              <a:t>Accuracy  98.74%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5E7EB"/>
                </a:solidFill>
              </a:rPr>
              <a:t>Precision  98.36%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5E7EB"/>
                </a:solidFill>
              </a:rPr>
              <a:t>Recall  91.60%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5E7EB"/>
                </a:solidFill>
              </a:rPr>
              <a:t>F1-score  94.86%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5E7EB"/>
                </a:solidFill>
              </a:rPr>
              <a:t>ROC-AUC  0.9905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Confusion Matrix</a:t>
            </a:r>
            <a:endParaRPr lang="en-US" sz="2800" dirty="0"/>
          </a:p>
        </p:txBody>
      </p:sp>
      <p:pic>
        <p:nvPicPr>
          <p:cNvPr id="4" name="Confusion matrix" descr="Confusion matr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6152"/>
            <a:ext cx="3931920" cy="3145536"/>
          </a:xfrm>
          <a:prstGeom prst="rect">
            <a:avLst/>
          </a:prstGeom>
        </p:spPr>
      </p:pic>
      <p:sp>
        <p:nvSpPr>
          <p:cNvPr id="5" name="card genuine messages wrongly blocked"/>
          <p:cNvSpPr/>
          <p:nvPr/>
        </p:nvSpPr>
        <p:spPr>
          <a:xfrm>
            <a:off x="4663440" y="109728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4663440" y="120700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of 903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4754880" y="17556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genuine messages wrongly blocked</a:t>
            </a:r>
            <a:endParaRPr lang="en-US" sz="1200" dirty="0"/>
          </a:p>
        </p:txBody>
      </p:sp>
      <p:sp>
        <p:nvSpPr>
          <p:cNvPr id="8" name="card spam messages caught"/>
          <p:cNvSpPr/>
          <p:nvPr/>
        </p:nvSpPr>
        <p:spPr>
          <a:xfrm>
            <a:off x="6766560" y="109728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766560" y="120700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 of 131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858000" y="17556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spam messages caught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663440" y="242316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Ham recall 99.78%: genuine messages almost never blocked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Spam precision 98.36%: flagged spam is almost always real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Spam recall 91.60%: 11 missed, mostly spam written like friendly chat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Stability and Key Words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93776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Strongest SPAM words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4937760" y="13716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claim, prize, won, guaranteed, awarded, ringtone, landline, longnumber, urltoken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93776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Strongest HAM words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937760" y="2697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ill, lor, da, later, lol, thats, doing, really, sure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937760" y="3474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Spam is about twice as long as ham on average.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Prediction Output</a:t>
            </a:r>
            <a:endParaRPr lang="en-US" sz="2800" dirty="0"/>
          </a:p>
        </p:txBody>
      </p:sp>
      <p:sp>
        <p:nvSpPr>
          <p:cNvPr id="4" name="message 1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0972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Congratulations! You have won a free iPhone. Click http://win-prize.com now to claim</a:t>
            </a:r>
            <a:endParaRPr lang="en-US" sz="1300" dirty="0"/>
          </a:p>
        </p:txBody>
      </p:sp>
      <p:sp>
        <p:nvSpPr>
          <p:cNvPr id="6" name="label 1"/>
          <p:cNvSpPr/>
          <p:nvPr/>
        </p:nvSpPr>
        <p:spPr>
          <a:xfrm>
            <a:off x="7406640" y="1243584"/>
            <a:ext cx="1143000" cy="393192"/>
          </a:xfrm>
          <a:prstGeom prst="roundRect">
            <a:avLst>
              <a:gd name="adj" fmla="val 2325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06640" y="1243584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SPAM</a:t>
            </a:r>
            <a:endParaRPr lang="en-US" sz="1400" dirty="0"/>
          </a:p>
        </p:txBody>
      </p:sp>
      <p:sp>
        <p:nvSpPr>
          <p:cNvPr id="8" name="message 2"/>
          <p:cNvSpPr/>
          <p:nvPr/>
        </p:nvSpPr>
        <p:spPr>
          <a:xfrm>
            <a:off x="457200" y="192024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92024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Hey, are we still meeting for lunch at 1 pm tomorrow?</a:t>
            </a:r>
            <a:endParaRPr lang="en-US" sz="1300" dirty="0"/>
          </a:p>
        </p:txBody>
      </p:sp>
      <p:sp>
        <p:nvSpPr>
          <p:cNvPr id="10" name="label 2"/>
          <p:cNvSpPr/>
          <p:nvPr/>
        </p:nvSpPr>
        <p:spPr>
          <a:xfrm>
            <a:off x="7406640" y="2066544"/>
            <a:ext cx="1143000" cy="393192"/>
          </a:xfrm>
          <a:prstGeom prst="roundRect">
            <a:avLst>
              <a:gd name="adj" fmla="val 23256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06640" y="2066544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HAM</a:t>
            </a:r>
            <a:endParaRPr lang="en-US" sz="1400" dirty="0"/>
          </a:p>
        </p:txBody>
      </p:sp>
      <p:sp>
        <p:nvSpPr>
          <p:cNvPr id="12" name="message 3"/>
          <p:cNvSpPr/>
          <p:nvPr/>
        </p:nvSpPr>
        <p:spPr>
          <a:xfrm>
            <a:off x="457200" y="274320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274320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URGENT! Your account is suspended. Call 09061701461 to claim your 1000 pound cash prize</a:t>
            </a:r>
            <a:endParaRPr lang="en-US" sz="1300" dirty="0"/>
          </a:p>
        </p:txBody>
      </p:sp>
      <p:sp>
        <p:nvSpPr>
          <p:cNvPr id="14" name="label 3"/>
          <p:cNvSpPr/>
          <p:nvPr/>
        </p:nvSpPr>
        <p:spPr>
          <a:xfrm>
            <a:off x="7406640" y="2889504"/>
            <a:ext cx="1143000" cy="393192"/>
          </a:xfrm>
          <a:prstGeom prst="roundRect">
            <a:avLst>
              <a:gd name="adj" fmla="val 23256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06640" y="2889504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SPAM</a:t>
            </a:r>
            <a:endParaRPr lang="en-US" sz="1400" dirty="0"/>
          </a:p>
        </p:txBody>
      </p:sp>
      <p:sp>
        <p:nvSpPr>
          <p:cNvPr id="16" name="message 4"/>
          <p:cNvSpPr/>
          <p:nvPr/>
        </p:nvSpPr>
        <p:spPr>
          <a:xfrm>
            <a:off x="457200" y="356616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56616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Please send me the internship report draft by evening</a:t>
            </a:r>
            <a:endParaRPr lang="en-US" sz="1300" dirty="0"/>
          </a:p>
        </p:txBody>
      </p:sp>
      <p:sp>
        <p:nvSpPr>
          <p:cNvPr id="18" name="label 4"/>
          <p:cNvSpPr/>
          <p:nvPr/>
        </p:nvSpPr>
        <p:spPr>
          <a:xfrm>
            <a:off x="7406640" y="3712464"/>
            <a:ext cx="1143000" cy="393192"/>
          </a:xfrm>
          <a:prstGeom prst="roundRect">
            <a:avLst>
              <a:gd name="adj" fmla="val 23256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06640" y="3712464"/>
            <a:ext cx="1143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Naive Bayes + TF-IDF reached 98.74% accuracy and 98.36% spam precision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Only 2 genuine messages blocked out of 903 in the test set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Cross-validation mean accuracy 98.59%: the result is stable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Data cleaning and good features mattered more than model complexity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Accuracy alone misleads on imbalanced data; precision, recall and F1 tell the full story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future Deep learning"/>
          <p:cNvSpPr/>
          <p:nvPr/>
        </p:nvSpPr>
        <p:spPr>
          <a:xfrm>
            <a:off x="457200" y="118872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dot Deep learning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1353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20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LSTM / BERT for context</a:t>
            </a:r>
            <a:endParaRPr lang="en-US" sz="1300" dirty="0"/>
          </a:p>
        </p:txBody>
      </p:sp>
      <p:sp>
        <p:nvSpPr>
          <p:cNvPr id="8" name="future Richer features"/>
          <p:cNvSpPr/>
          <p:nvPr/>
        </p:nvSpPr>
        <p:spPr>
          <a:xfrm>
            <a:off x="3246120" y="118872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dot Richer features"/>
          <p:cNvSpPr/>
          <p:nvPr/>
        </p:nvSpPr>
        <p:spPr>
          <a:xfrm>
            <a:off x="3429000" y="137160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931920" y="1353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Richer features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1920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length, capitals, digits, symbols</a:t>
            </a:r>
            <a:endParaRPr lang="en-US" sz="1300" dirty="0"/>
          </a:p>
        </p:txBody>
      </p:sp>
      <p:sp>
        <p:nvSpPr>
          <p:cNvPr id="12" name="future Multilingual data"/>
          <p:cNvSpPr/>
          <p:nvPr/>
        </p:nvSpPr>
        <p:spPr>
          <a:xfrm>
            <a:off x="6035040" y="118872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dot Multilingual data"/>
          <p:cNvSpPr/>
          <p:nvPr/>
        </p:nvSpPr>
        <p:spPr>
          <a:xfrm>
            <a:off x="6217920" y="1371600"/>
            <a:ext cx="365760" cy="36576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20840" y="1353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 data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920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Hindi and Hinglish spam</a:t>
            </a:r>
            <a:endParaRPr lang="en-US" sz="1300" dirty="0"/>
          </a:p>
        </p:txBody>
      </p:sp>
      <p:sp>
        <p:nvSpPr>
          <p:cNvPr id="16" name="future Web app / API"/>
          <p:cNvSpPr/>
          <p:nvPr/>
        </p:nvSpPr>
        <p:spPr>
          <a:xfrm>
            <a:off x="457200" y="274320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dot Web app / API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43000" y="29077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 / API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474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Streamlit or Flask demo</a:t>
            </a:r>
            <a:endParaRPr lang="en-US" sz="1300" dirty="0"/>
          </a:p>
        </p:txBody>
      </p:sp>
      <p:sp>
        <p:nvSpPr>
          <p:cNvPr id="20" name="future Continuous learning"/>
          <p:cNvSpPr/>
          <p:nvPr/>
        </p:nvSpPr>
        <p:spPr>
          <a:xfrm>
            <a:off x="3246120" y="274320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dot Continuous learning"/>
          <p:cNvSpPr/>
          <p:nvPr/>
        </p:nvSpPr>
        <p:spPr>
          <a:xfrm>
            <a:off x="3429000" y="292608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931920" y="29077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learning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429000" y="3474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retrain on user-reported spam</a:t>
            </a:r>
            <a:endParaRPr lang="en-US" sz="1300" dirty="0"/>
          </a:p>
        </p:txBody>
      </p:sp>
      <p:sp>
        <p:nvSpPr>
          <p:cNvPr id="24" name="future Explainability"/>
          <p:cNvSpPr/>
          <p:nvPr/>
        </p:nvSpPr>
        <p:spPr>
          <a:xfrm>
            <a:off x="6035040" y="274320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dot Explainability"/>
          <p:cNvSpPr/>
          <p:nvPr/>
        </p:nvSpPr>
        <p:spPr>
          <a:xfrm>
            <a:off x="6217920" y="2926080"/>
            <a:ext cx="365760" cy="36576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20840" y="29077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217920" y="3474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LIME / SHAP word-level reasons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Shashank Deshmukh  |  Naviotech Solutions Pvt Ltd  |  Guide: Mr. Md. Ameen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m Detection">
  <a:themeElements>
    <a:clrScheme name="Spam Detection">
      <a:dk1>
        <a:srgbClr val="1F2937"/>
      </a:dk1>
      <a:lt1>
        <a:srgbClr val="FFFFFF"/>
      </a:lt1>
      <a:dk2>
        <a:srgbClr val="0B1D3A"/>
      </a:dk2>
      <a:lt2>
        <a:srgbClr val="F7F8FA"/>
      </a:lt2>
      <a:accent1>
        <a:srgbClr val="2E86AB"/>
      </a:accent1>
      <a:accent2>
        <a:srgbClr val="E4572E"/>
      </a:accent2>
      <a:accent3>
        <a:srgbClr val="F2B134"/>
      </a:accent3>
      <a:accent4>
        <a:srgbClr val="3B8E5A"/>
      </a:accent4>
      <a:accent5>
        <a:srgbClr val="7A5195"/>
      </a:accent5>
      <a:accent6>
        <a:srgbClr val="6B7280"/>
      </a:accent6>
      <a:hlink>
        <a:srgbClr val="2E86AB"/>
      </a:hlink>
      <a:folHlink>
        <a:srgbClr val="6B7280"/>
      </a:folHlink>
    </a:clrScheme>
    <a:fontScheme name="Spam Detectio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Spam Mail Prediction using Machine Learning</dc:title>
  <dc:subject>PptxGenJS Presentation</dc:subject>
  <dc:creator>Shashank Deshmukh</dc:creator>
  <cp:lastModifiedBy>Shashank Deshmukh</cp:lastModifiedBy>
  <cp:revision>1</cp:revision>
  <dcterms:created xsi:type="dcterms:W3CDTF">2026-10-29T20:05:13Z</dcterms:created>
  <dcterms:modified xsi:type="dcterms:W3CDTF">2026-10-29T20:05:13Z</dcterms:modified>
</cp:coreProperties>
</file>